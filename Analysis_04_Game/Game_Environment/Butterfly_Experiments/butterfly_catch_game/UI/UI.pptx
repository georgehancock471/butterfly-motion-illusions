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72" r:id="rId3"/>
    <p:sldId id="273" r:id="rId4"/>
    <p:sldId id="277" r:id="rId5"/>
    <p:sldId id="274" r:id="rId6"/>
    <p:sldId id="275" r:id="rId7"/>
    <p:sldId id="270" r:id="rId8"/>
    <p:sldId id="276" r:id="rId9"/>
    <p:sldId id="268" r:id="rId10"/>
    <p:sldId id="269" r:id="rId11"/>
    <p:sldId id="264" r:id="rId12"/>
    <p:sldId id="265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6F6F6F"/>
    <a:srgbClr val="727272"/>
    <a:srgbClr val="6C7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9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192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C4302-56A7-411D-8E38-12FCC17049F6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28F04-2D25-44D1-BF48-2DF7A0651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096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2DF8-507B-01D2-28B4-E108552F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BA04A-BBC2-4286-5ACD-9716097E2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038A8-7E92-122E-EC0F-BC904A39B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50E8A-025A-9666-407F-523321AC5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905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5DCC7-9796-A80F-B1E1-9708E901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D5320-A556-B518-B003-A18CE5626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D7B20-659F-AEDF-9E4A-6E7B89F75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74A64-1783-C85D-B1BF-69F3205EE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60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3211-5EFB-C874-F59F-F6A7500D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40E72-6ACA-3945-79DD-B4E3CC3B6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3F040-D6F0-E8A8-8162-F773EAF3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D07A5-89A1-A07E-BA34-92549F91F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95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651F5-2869-BA9B-5975-E0C3F89D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2BCAA-4B5A-DBA2-CC42-CA93A31AC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62E0D-E60D-F20D-6DB3-6D1A91E26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FDB67-AB43-6282-93A1-7CC9F5438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251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692A-2F10-5932-ECD4-FBD52927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54376-6DCF-8F82-68BC-60A06CFC6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5ED7D-668C-1B41-C55A-59ED39831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A74CA-E4B3-B5E5-17F2-0F46D777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103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89DE-B7F0-6ADB-1FD8-C355AA0A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867A5-9C38-518A-867C-0899474EA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1EF47-2E4C-B5CC-3102-1CF2F9534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ECA65-79EB-41A4-5B1E-333A581B0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0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94F5-FEFD-4EDD-847F-4FEAD61C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27718-7B65-52F7-AA19-5B6FDE859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BBB73-D441-2851-AF8E-33474A347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5053D-0DE7-B44D-4A8F-9B522FEB9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99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9B0E-6D58-522A-B4B0-7CE38DCF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4BEA7-6FED-F909-1097-0E894C1A2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32A7D-E261-2D43-1668-FBB536BA3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75410-819E-EFEC-AC6E-A3C2B4928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140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926F-AD7A-31E4-2D00-C9A75C1C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4AA2D-8BFE-9E3C-75AF-E92DB081E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1001A-4C7C-80BE-1003-497242CB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F32AC-E41B-5013-910B-46A46D453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308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7B41-4917-51F8-5618-31328094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7893-FC57-9EFE-81A4-74553AD7E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E2F68-B470-B6CD-CD7A-812C3B0C4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B10BB-80EA-AB79-5A2A-2211A2A09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506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9573-4AD8-071E-F712-7A6E3BA5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B7B24-8954-E8EA-7DBD-5F833D37A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1F1E3-21AC-6585-65A5-AB2EFBD0E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59161-6E19-02F4-8716-56B49C38A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627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390C-9ACB-14D8-49FB-33599120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E0EF3-8ADA-ADA7-91D9-0AAC3D003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57CC1-B80A-42D2-C6EE-89183F763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B5B01-AACE-8CC6-EA51-561C6AC2A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122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B2B2-7B1D-617E-8BB9-6795D395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E9BF3-81B1-2D1D-81C5-EACA12949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FA02A-7252-6316-C53F-7F9FB7E88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B5D84-E107-3802-997B-4DA82E0C4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16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B3E0-15B2-9AA8-5473-4FB12BC06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D5F23-7311-71C5-8D23-84213E47D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FACFF-0372-A949-F9B0-4D9E16A8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43BAD-03C7-DC0C-1CAC-F273A136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DB3D-D29F-9633-1A7C-34290BE4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93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9BC9-D79D-D474-5C39-42AD6DB3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42CD-63FD-696A-505E-B9C15207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BC2B-1D67-A471-9ED7-948F9918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DC82F-F86A-1413-F1B6-67750E1F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F230F-4403-6757-56D9-E47A566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68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A241-EA70-2ECF-6449-EAECD254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CF56-D950-B2D1-9E4A-1F7DD81C1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7F4CF-B77A-05D1-107D-2B3C0A39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46AF-1279-70E0-2AC9-E8AF9CF5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56A0-076B-9467-8649-2D04D22D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39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10AB3-9302-5635-194B-CFB32F18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E0BA-05B9-1953-D1DF-8CDD7BD7B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19AD8-5990-8802-54C6-110B170CE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AFD9C-EC06-164B-3970-C8C73343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13245-932E-E058-1589-A8E6D334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10F2A-8C43-AF3F-66B5-C6DF977C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AD7A-B5B0-8417-D157-66D7AF83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A1D58-D696-57B5-51F1-E32FFE08C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BB739-F946-6FE5-A243-8039FEBF4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7BB51-8288-5B22-1322-81CA24E80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5356E-AC28-9D66-C154-C039AD9F7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04F4B-EC27-98EE-CBCC-6EEC1026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E346C-24CD-293A-A292-2FF060F8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0DEA6-7F44-8EE9-16A6-1814D0EB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91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3951-A770-0364-5633-99FE2BE1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19D15-716B-402B-4738-15B95F25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A9F08-35B1-4419-464E-99B13FEA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6D517-497D-17DF-59A9-44C2E683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46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94D8-8ED3-7C05-4DAA-518C51F8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21BF2-D699-B72A-8550-D283988E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FBBF-1675-DDC2-9460-6BA98F55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08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3553-0893-06B9-CAAE-B2ADA480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B2F29-483F-B193-76BA-E19EDFCA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DD1E5-8864-6DC5-C290-3DBB66141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D0B98-88EB-1BD6-E131-995A0D12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53280-B44D-9385-2C45-30BA2883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3713A-DB12-949C-5F6B-BA46C484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88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D6FC-CDE8-250A-1574-966D7525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5426B-C7BE-2B36-9DB0-691A4236C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DFD0B-C07D-3D80-7514-C7D95766B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70D9D-5783-7C1E-548A-9B4DF920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3839F-FD26-2072-05C2-13818585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D8CE6-C6E3-B5AE-2216-995F568C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44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C873A-A08B-4998-3490-79B9C791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30728-0153-B75F-86C3-F009ABB2D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87F3-085A-209E-6016-87856970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7222A-9B51-FA69-141E-BFB54047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5CA01-45CF-1CBC-7402-FB1E9C76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4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3901F0-8D82-F39E-AE05-60810E56E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5FA26-9EAB-DF53-4330-1FC3EB271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A13F-23B2-4014-C186-6AEB616B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DAC3C-1BDA-1BCD-B08A-F4AAA56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3F65-BD34-FB49-C531-67B4FBC0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6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16D94-FA3A-158A-4CFD-2EC15AD9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29D5B-DFA0-C04C-6322-49B262EB0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C66A-E020-8A07-4BE9-EBCEED130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C1396-7ECB-4143-9875-A324AE3AA14E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F018C-B40E-E65F-C376-AA353B174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9B58-DA1A-B146-FB53-F409484D8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96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759E-3D0B-4CB9-311D-BE83500E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B00D2-9FCE-3500-15B3-1971671204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90F2A-22EF-0ACE-B416-95BC7190A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238CDE-C856-CF25-7FB2-9D9F824E0413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2EC92-AE07-E525-5681-23B56CF72C88}"/>
              </a:ext>
            </a:extLst>
          </p:cNvPr>
          <p:cNvSpPr txBox="1"/>
          <p:nvPr/>
        </p:nvSpPr>
        <p:spPr>
          <a:xfrm>
            <a:off x="250784" y="2160371"/>
            <a:ext cx="116904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chemeClr val="bg1"/>
                </a:solidFill>
              </a:rPr>
              <a:t>Welcome to the Butterfly Game!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D7444C-6F3D-91CA-3579-6421525C66B3}"/>
              </a:ext>
            </a:extLst>
          </p:cNvPr>
          <p:cNvGrpSpPr/>
          <p:nvPr/>
        </p:nvGrpSpPr>
        <p:grpSpPr>
          <a:xfrm>
            <a:off x="4947180" y="3828188"/>
            <a:ext cx="2297637" cy="1848500"/>
            <a:chOff x="5204382" y="3525789"/>
            <a:chExt cx="1783235" cy="143465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B79820-EDE2-AE69-84BC-D7998221F275}"/>
                </a:ext>
              </a:extLst>
            </p:cNvPr>
            <p:cNvGrpSpPr/>
            <p:nvPr/>
          </p:nvGrpSpPr>
          <p:grpSpPr>
            <a:xfrm>
              <a:off x="5204382" y="3743925"/>
              <a:ext cx="1783235" cy="1216516"/>
              <a:chOff x="4746507" y="3547853"/>
              <a:chExt cx="2725995" cy="1859663"/>
            </a:xfrm>
          </p:grpSpPr>
          <p:sp>
            <p:nvSpPr>
              <p:cNvPr id="14" name="Free-form: Shape 13">
                <a:extLst>
                  <a:ext uri="{FF2B5EF4-FFF2-40B4-BE49-F238E27FC236}">
                    <a16:creationId xmlns:a16="http://schemas.microsoft.com/office/drawing/2014/main" id="{12F2E3E1-A144-47F2-D061-9FE9BCBAFFA9}"/>
                  </a:ext>
                </a:extLst>
              </p:cNvPr>
              <p:cNvSpPr/>
              <p:nvPr/>
            </p:nvSpPr>
            <p:spPr>
              <a:xfrm>
                <a:off x="6096001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15" name="Free-form: Shape 14">
                <a:extLst>
                  <a:ext uri="{FF2B5EF4-FFF2-40B4-BE49-F238E27FC236}">
                    <a16:creationId xmlns:a16="http://schemas.microsoft.com/office/drawing/2014/main" id="{DF9E17CF-2AC1-B4D4-44E1-7F1DD4F4D9F1}"/>
                  </a:ext>
                </a:extLst>
              </p:cNvPr>
              <p:cNvSpPr/>
              <p:nvPr/>
            </p:nvSpPr>
            <p:spPr>
              <a:xfrm flipH="1">
                <a:off x="4746507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03A8C256-C3F2-58D9-5220-480BC06A7CC0}"/>
                </a:ext>
              </a:extLst>
            </p:cNvPr>
            <p:cNvSpPr/>
            <p:nvPr/>
          </p:nvSpPr>
          <p:spPr>
            <a:xfrm>
              <a:off x="5770672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DE70FA4B-69F0-E7EE-F451-CF0475F2B62B}"/>
                </a:ext>
              </a:extLst>
            </p:cNvPr>
            <p:cNvSpPr/>
            <p:nvPr/>
          </p:nvSpPr>
          <p:spPr>
            <a:xfrm flipH="1">
              <a:off x="6096997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AD92478-E2FA-1B50-0322-341CF979D072}"/>
              </a:ext>
            </a:extLst>
          </p:cNvPr>
          <p:cNvSpPr txBox="1"/>
          <p:nvPr/>
        </p:nvSpPr>
        <p:spPr>
          <a:xfrm>
            <a:off x="4524300" y="2959695"/>
            <a:ext cx="3120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to start</a:t>
            </a:r>
          </a:p>
        </p:txBody>
      </p:sp>
    </p:spTree>
    <p:extLst>
      <p:ext uri="{BB962C8B-B14F-4D97-AF65-F5344CB8AC3E}">
        <p14:creationId xmlns:p14="http://schemas.microsoft.com/office/powerpoint/2010/main" val="357280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973D-02E3-A93A-FA6B-4720BB69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BA4205E-E38D-35E0-7AA9-18451F5587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AAD00-4FF2-987F-E904-4DA22AD5EE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E22358-8375-D9A4-0977-BED5FB5BE69E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82D53-2CB2-69CB-F0B5-979FA9B9763F}"/>
              </a:ext>
            </a:extLst>
          </p:cNvPr>
          <p:cNvSpPr txBox="1"/>
          <p:nvPr/>
        </p:nvSpPr>
        <p:spPr>
          <a:xfrm>
            <a:off x="2113849" y="2072388"/>
            <a:ext cx="796430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Our Experiment</a:t>
            </a:r>
            <a:br>
              <a:rPr lang="en-GB" sz="3200" dirty="0">
                <a:solidFill>
                  <a:schemeClr val="bg1"/>
                </a:solidFill>
              </a:rPr>
            </a:br>
            <a:endParaRPr lang="en-GB" sz="3200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Your task is simple. You will be shown a series of butterflies flying across the screen. Your job is to try and catch them as quickly and accurately as you can before they fly off the screen!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E12249D-EBBB-C429-2007-9B384E8A4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03889">
            <a:off x="1218928" y="4659257"/>
            <a:ext cx="1151323" cy="822373"/>
          </a:xfrm>
          <a:prstGeom prst="rect">
            <a:avLst/>
          </a:prstGeom>
        </p:spPr>
      </p:pic>
      <p:pic>
        <p:nvPicPr>
          <p:cNvPr id="12" name="Graphic 11" descr="Touchscreen with solid fill">
            <a:extLst>
              <a:ext uri="{FF2B5EF4-FFF2-40B4-BE49-F238E27FC236}">
                <a16:creationId xmlns:a16="http://schemas.microsoft.com/office/drawing/2014/main" id="{6CC0E663-ADF4-3281-8840-CAF828CF1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131219">
            <a:off x="793975" y="4258473"/>
            <a:ext cx="914400" cy="9144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CDB6F7-2CAB-EB48-E6E1-5FACDC43E59B}"/>
              </a:ext>
            </a:extLst>
          </p:cNvPr>
          <p:cNvSpPr/>
          <p:nvPr/>
        </p:nvSpPr>
        <p:spPr>
          <a:xfrm>
            <a:off x="3869876" y="5333789"/>
            <a:ext cx="4452248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E0F8E-7A43-170C-72AD-9CCC52A086FB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for next slide.</a:t>
            </a:r>
          </a:p>
        </p:txBody>
      </p:sp>
    </p:spTree>
    <p:extLst>
      <p:ext uri="{BB962C8B-B14F-4D97-AF65-F5344CB8AC3E}">
        <p14:creationId xmlns:p14="http://schemas.microsoft.com/office/powerpoint/2010/main" val="7391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8716-6BEA-5902-F9D2-77AAB141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C57BF4-C595-5FE6-DDE7-1CDF7E639B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1D05D8-AA0E-FE49-15C6-4F7C3BC6FF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F69623-090C-8696-CC2E-1A714C9F4931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6032-C957-CE62-46A4-4F454D3D65CE}"/>
              </a:ext>
            </a:extLst>
          </p:cNvPr>
          <p:cNvSpPr txBox="1"/>
          <p:nvPr/>
        </p:nvSpPr>
        <p:spPr>
          <a:xfrm>
            <a:off x="1470582" y="2072388"/>
            <a:ext cx="925083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Our Experiment</a:t>
            </a:r>
            <a:br>
              <a:rPr lang="en-GB" sz="3200" dirty="0">
                <a:solidFill>
                  <a:schemeClr val="bg1"/>
                </a:solidFill>
              </a:rPr>
            </a:br>
            <a:endParaRPr lang="en-GB" sz="3200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Before you see the butterfly, you will need to touch a white circle that appears in one of the four corners of the screen. This will indicate where the butterfly will start from.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CAEBBC3-4CA1-DDF0-7292-A152F98E628E}"/>
              </a:ext>
            </a:extLst>
          </p:cNvPr>
          <p:cNvSpPr/>
          <p:nvPr/>
        </p:nvSpPr>
        <p:spPr>
          <a:xfrm>
            <a:off x="1746841" y="4757030"/>
            <a:ext cx="864000" cy="864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0B57D2-EB7F-3768-F7DB-C6DD810CE2C0}"/>
              </a:ext>
            </a:extLst>
          </p:cNvPr>
          <p:cNvGrpSpPr/>
          <p:nvPr/>
        </p:nvGrpSpPr>
        <p:grpSpPr>
          <a:xfrm flipH="1">
            <a:off x="337696" y="2072388"/>
            <a:ext cx="821119" cy="4301840"/>
            <a:chOff x="11350742" y="4273518"/>
            <a:chExt cx="217715" cy="1631252"/>
          </a:xfrm>
          <a:solidFill>
            <a:schemeClr val="bg1">
              <a:lumMod val="75000"/>
            </a:schemeClr>
          </a:solidFill>
        </p:grpSpPr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9A5BAE5D-AAB1-BCE9-FDFE-456C11D6D0C2}"/>
                </a:ext>
              </a:extLst>
            </p:cNvPr>
            <p:cNvSpPr/>
            <p:nvPr/>
          </p:nvSpPr>
          <p:spPr>
            <a:xfrm rot="2700000">
              <a:off x="11350742" y="4276516"/>
              <a:ext cx="217715" cy="211720"/>
            </a:xfrm>
            <a:prstGeom prst="up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row: Up 16">
              <a:extLst>
                <a:ext uri="{FF2B5EF4-FFF2-40B4-BE49-F238E27FC236}">
                  <a16:creationId xmlns:a16="http://schemas.microsoft.com/office/drawing/2014/main" id="{6C442CF8-F404-E95C-48FA-861F25A466BF}"/>
                </a:ext>
              </a:extLst>
            </p:cNvPr>
            <p:cNvSpPr/>
            <p:nvPr/>
          </p:nvSpPr>
          <p:spPr>
            <a:xfrm rot="18900000" flipV="1">
              <a:off x="11350742" y="5693050"/>
              <a:ext cx="217715" cy="211720"/>
            </a:xfrm>
            <a:prstGeom prst="up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8" name="Graphic 17" descr="Touchscreen with solid fill">
            <a:extLst>
              <a:ext uri="{FF2B5EF4-FFF2-40B4-BE49-F238E27FC236}">
                <a16:creationId xmlns:a16="http://schemas.microsoft.com/office/drawing/2014/main" id="{C3FEB390-295E-5B73-0E04-CE793CAD3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131219">
            <a:off x="1192208" y="4620418"/>
            <a:ext cx="914400" cy="9144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FED5B50-BCB3-A404-3EBD-35EB66509FF6}"/>
              </a:ext>
            </a:extLst>
          </p:cNvPr>
          <p:cNvGrpSpPr/>
          <p:nvPr/>
        </p:nvGrpSpPr>
        <p:grpSpPr>
          <a:xfrm>
            <a:off x="11085714" y="2072388"/>
            <a:ext cx="821119" cy="4301840"/>
            <a:chOff x="11350742" y="4273518"/>
            <a:chExt cx="217715" cy="1631252"/>
          </a:xfrm>
          <a:solidFill>
            <a:schemeClr val="bg1">
              <a:lumMod val="75000"/>
            </a:schemeClr>
          </a:solidFill>
        </p:grpSpPr>
        <p:sp>
          <p:nvSpPr>
            <p:cNvPr id="22" name="Arrow: Up 21">
              <a:extLst>
                <a:ext uri="{FF2B5EF4-FFF2-40B4-BE49-F238E27FC236}">
                  <a16:creationId xmlns:a16="http://schemas.microsoft.com/office/drawing/2014/main" id="{1F18EAC0-B843-7B35-8495-99DDC421BD91}"/>
                </a:ext>
              </a:extLst>
            </p:cNvPr>
            <p:cNvSpPr/>
            <p:nvPr/>
          </p:nvSpPr>
          <p:spPr>
            <a:xfrm rot="2700000">
              <a:off x="11350742" y="4276516"/>
              <a:ext cx="217715" cy="211720"/>
            </a:xfrm>
            <a:prstGeom prst="up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row: Up 22">
              <a:extLst>
                <a:ext uri="{FF2B5EF4-FFF2-40B4-BE49-F238E27FC236}">
                  <a16:creationId xmlns:a16="http://schemas.microsoft.com/office/drawing/2014/main" id="{C5EEFCAE-1B48-1635-1EFA-B5E3E7682DA3}"/>
                </a:ext>
              </a:extLst>
            </p:cNvPr>
            <p:cNvSpPr/>
            <p:nvPr/>
          </p:nvSpPr>
          <p:spPr>
            <a:xfrm rot="18900000" flipV="1">
              <a:off x="11350742" y="5693050"/>
              <a:ext cx="217715" cy="211720"/>
            </a:xfrm>
            <a:prstGeom prst="up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D7C842-7104-C166-7AC5-D76258836E28}"/>
              </a:ext>
            </a:extLst>
          </p:cNvPr>
          <p:cNvSpPr/>
          <p:nvPr/>
        </p:nvSpPr>
        <p:spPr>
          <a:xfrm>
            <a:off x="3869876" y="5333789"/>
            <a:ext cx="4452248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3C96D-9625-853E-CEBB-A3F75BD592AD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for next slide.</a:t>
            </a:r>
          </a:p>
        </p:txBody>
      </p:sp>
    </p:spTree>
    <p:extLst>
      <p:ext uri="{BB962C8B-B14F-4D97-AF65-F5344CB8AC3E}">
        <p14:creationId xmlns:p14="http://schemas.microsoft.com/office/powerpoint/2010/main" val="156359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8DCA-0BE6-7BD0-23C8-B5FED055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0F8A3-B350-83BE-1497-83DD8D5506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5A2AC-F12C-FE4E-F771-EA297758B1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C5752C-D9F1-908F-6B6E-012DF27B4F7C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29FB2-4CB9-906B-FD93-E6B4FEAE9894}"/>
              </a:ext>
            </a:extLst>
          </p:cNvPr>
          <p:cNvSpPr txBox="1"/>
          <p:nvPr/>
        </p:nvSpPr>
        <p:spPr>
          <a:xfrm>
            <a:off x="1470582" y="2072388"/>
            <a:ext cx="925083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Our Experiment</a:t>
            </a:r>
            <a:br>
              <a:rPr lang="en-GB" sz="3200" dirty="0">
                <a:solidFill>
                  <a:schemeClr val="bg1"/>
                </a:solidFill>
              </a:rPr>
            </a:br>
            <a:endParaRPr lang="en-GB" sz="3200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You will only have </a:t>
            </a:r>
            <a:r>
              <a:rPr lang="en-GB" sz="2800" u="sng" dirty="0">
                <a:solidFill>
                  <a:schemeClr val="bg1"/>
                </a:solidFill>
              </a:rPr>
              <a:t>one chance </a:t>
            </a:r>
            <a:r>
              <a:rPr lang="en-GB" sz="2800" dirty="0">
                <a:solidFill>
                  <a:schemeClr val="bg1"/>
                </a:solidFill>
              </a:rPr>
              <a:t>to capture each butterfly.</a:t>
            </a:r>
          </a:p>
          <a:p>
            <a:pPr algn="ctr"/>
            <a:endParaRPr lang="en-GB" sz="2800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If you have a long sleeve, pull it back if you can, only use one finger to tap the butterfly.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6" name="Graphic 5" descr="Right pointing backhand index with solid fill">
            <a:extLst>
              <a:ext uri="{FF2B5EF4-FFF2-40B4-BE49-F238E27FC236}">
                <a16:creationId xmlns:a16="http://schemas.microsoft.com/office/drawing/2014/main" id="{0B68D057-1E66-5485-A176-137BBE7BB0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859972" y="2781300"/>
            <a:ext cx="914400" cy="9144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BE1370-CA52-72B3-2168-AC33338AEE31}"/>
              </a:ext>
            </a:extLst>
          </p:cNvPr>
          <p:cNvSpPr/>
          <p:nvPr/>
        </p:nvSpPr>
        <p:spPr>
          <a:xfrm>
            <a:off x="3869876" y="5333789"/>
            <a:ext cx="4452248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14802-84B2-A0C5-99AA-9698EB2068EE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for next slide.</a:t>
            </a:r>
          </a:p>
        </p:txBody>
      </p:sp>
    </p:spTree>
    <p:extLst>
      <p:ext uri="{BB962C8B-B14F-4D97-AF65-F5344CB8AC3E}">
        <p14:creationId xmlns:p14="http://schemas.microsoft.com/office/powerpoint/2010/main" val="317821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2783-F115-A599-32DE-40EBD5F4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B14396-E5B0-0065-71B8-FF085D1E5B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A32F1-183A-06A3-3CFD-2DDE250E9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5D61A4-8027-E960-58C4-D2DFD7500A77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0D1D1-BFBB-2097-DB67-1624AF2D3F8F}"/>
              </a:ext>
            </a:extLst>
          </p:cNvPr>
          <p:cNvSpPr txBox="1"/>
          <p:nvPr/>
        </p:nvSpPr>
        <p:spPr>
          <a:xfrm>
            <a:off x="822075" y="3292897"/>
            <a:ext cx="10547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Any Questions?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22A643-C509-C0B9-9802-A5AE69B327A4}"/>
              </a:ext>
            </a:extLst>
          </p:cNvPr>
          <p:cNvSpPr/>
          <p:nvPr/>
        </p:nvSpPr>
        <p:spPr>
          <a:xfrm>
            <a:off x="3869876" y="5333789"/>
            <a:ext cx="4452248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E6AD7-CC36-11F7-2A20-16479E0A88CF}"/>
              </a:ext>
            </a:extLst>
          </p:cNvPr>
          <p:cNvSpPr txBox="1"/>
          <p:nvPr/>
        </p:nvSpPr>
        <p:spPr>
          <a:xfrm>
            <a:off x="3869874" y="5433665"/>
            <a:ext cx="4452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to begin the Tutorial</a:t>
            </a:r>
          </a:p>
        </p:txBody>
      </p:sp>
    </p:spTree>
    <p:extLst>
      <p:ext uri="{BB962C8B-B14F-4D97-AF65-F5344CB8AC3E}">
        <p14:creationId xmlns:p14="http://schemas.microsoft.com/office/powerpoint/2010/main" val="25836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84B4-7A43-3287-1C0F-4CA837A3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2EDC83-35E9-69D9-ADBC-F81A70DE44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B850D-7E89-3AA2-76CA-0B83AA169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B5FD77-FFAA-6C5F-36B5-21FC51A2C4B3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A2F4C-7379-427B-A279-37FA87F13AEF}"/>
              </a:ext>
            </a:extLst>
          </p:cNvPr>
          <p:cNvSpPr txBox="1"/>
          <p:nvPr/>
        </p:nvSpPr>
        <p:spPr>
          <a:xfrm>
            <a:off x="1579439" y="2815016"/>
            <a:ext cx="90331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In this tutorial you will need to catch </a:t>
            </a: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butterflies as instructed.</a:t>
            </a:r>
            <a:br>
              <a:rPr lang="en-GB" sz="2800" dirty="0">
                <a:solidFill>
                  <a:schemeClr val="bg1"/>
                </a:solidFill>
              </a:rPr>
            </a:b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dirty="0">
                <a:solidFill>
                  <a:schemeClr val="bg1"/>
                </a:solidFill>
              </a:rPr>
              <a:t>Each time you successfully catch two butterflies it will get faster. Up until we reach the speed of our experiment.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83E23A-D77D-FEC1-BD1A-1DBC90B25C90}"/>
              </a:ext>
            </a:extLst>
          </p:cNvPr>
          <p:cNvSpPr/>
          <p:nvPr/>
        </p:nvSpPr>
        <p:spPr>
          <a:xfrm>
            <a:off x="3869876" y="5333789"/>
            <a:ext cx="4452248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2A3A2-1B6F-0BB0-5E1F-F5FA1E2F5F56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to Start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FD473F-42C2-DD30-410C-1CDAAA6B62BC}"/>
              </a:ext>
            </a:extLst>
          </p:cNvPr>
          <p:cNvSpPr txBox="1"/>
          <p:nvPr/>
        </p:nvSpPr>
        <p:spPr>
          <a:xfrm>
            <a:off x="250784" y="2072388"/>
            <a:ext cx="116904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Tutorial</a:t>
            </a:r>
            <a:br>
              <a:rPr lang="en-GB" sz="3200" u="sng" dirty="0">
                <a:solidFill>
                  <a:schemeClr val="bg1"/>
                </a:solidFill>
              </a:rPr>
            </a:br>
            <a:endParaRPr lang="en-GB" sz="32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83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5E03-F81D-CCA6-BF58-33F56635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3FF6AAF-E864-785B-5E86-543FA2339B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1FF87-BFE9-E797-D87E-E3AE3FA7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1AD8FA-25FF-EBD8-3D3F-EA5EB6F49DC3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7DAF8-9101-51B0-6DB5-3E20DFA7182B}"/>
              </a:ext>
            </a:extLst>
          </p:cNvPr>
          <p:cNvSpPr txBox="1"/>
          <p:nvPr/>
        </p:nvSpPr>
        <p:spPr>
          <a:xfrm>
            <a:off x="1579439" y="2815016"/>
            <a:ext cx="90331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Well done you finished the tutorial.</a:t>
            </a:r>
          </a:p>
          <a:p>
            <a:pPr algn="ctr"/>
            <a:endParaRPr lang="en-GB" sz="2800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Catching butterflies isn’t easy is it!</a:t>
            </a:r>
          </a:p>
          <a:p>
            <a:pPr algn="ctr"/>
            <a:endParaRPr lang="en-GB" sz="2800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</a:rPr>
              <a:t>When you are ready, you can start the experiment.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AA245-CC82-18E9-E068-A637E25426E9}"/>
              </a:ext>
            </a:extLst>
          </p:cNvPr>
          <p:cNvSpPr/>
          <p:nvPr/>
        </p:nvSpPr>
        <p:spPr>
          <a:xfrm>
            <a:off x="3869876" y="5333789"/>
            <a:ext cx="4452248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8D1F1-0523-1D3C-8B6A-7415017D76E1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to Start the Experiment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2A662-3A89-6753-2E05-CAF2E1F8762F}"/>
              </a:ext>
            </a:extLst>
          </p:cNvPr>
          <p:cNvSpPr txBox="1"/>
          <p:nvPr/>
        </p:nvSpPr>
        <p:spPr>
          <a:xfrm>
            <a:off x="250784" y="2072388"/>
            <a:ext cx="116904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Tutorial Completed</a:t>
            </a:r>
            <a:br>
              <a:rPr lang="en-GB" sz="3200" u="sng" dirty="0">
                <a:solidFill>
                  <a:schemeClr val="bg1"/>
                </a:solidFill>
              </a:rPr>
            </a:br>
            <a:endParaRPr lang="en-GB" sz="32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07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AEC8-0547-5285-C15A-F1C354DD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2CF5BA-D412-077A-F90E-9A38E9B38D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3FE28-8E69-7830-0C74-187B5394E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1B6C78-05AB-5EE8-132E-55313031CBB8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B533E-0990-B773-4298-A271E8A89E9B}"/>
              </a:ext>
            </a:extLst>
          </p:cNvPr>
          <p:cNvSpPr txBox="1"/>
          <p:nvPr/>
        </p:nvSpPr>
        <p:spPr>
          <a:xfrm>
            <a:off x="1579439" y="2815016"/>
            <a:ext cx="9033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You finished the game.</a:t>
            </a:r>
            <a:br>
              <a:rPr lang="en-GB" sz="2400" dirty="0">
                <a:solidFill>
                  <a:schemeClr val="bg1"/>
                </a:solidFill>
              </a:rPr>
            </a:b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54CBCA-CFC2-0044-7215-2E11743F9A70}"/>
              </a:ext>
            </a:extLst>
          </p:cNvPr>
          <p:cNvSpPr txBox="1"/>
          <p:nvPr/>
        </p:nvSpPr>
        <p:spPr>
          <a:xfrm>
            <a:off x="250784" y="5268565"/>
            <a:ext cx="11690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Let the experimenter know that you have finished.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2215F-BBF3-DA9B-4849-680F04E45F86}"/>
              </a:ext>
            </a:extLst>
          </p:cNvPr>
          <p:cNvSpPr txBox="1"/>
          <p:nvPr/>
        </p:nvSpPr>
        <p:spPr>
          <a:xfrm>
            <a:off x="250784" y="2072388"/>
            <a:ext cx="1169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Well Done!!!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D0276D-792B-1B6B-BBC1-6264CC4F5785}"/>
              </a:ext>
            </a:extLst>
          </p:cNvPr>
          <p:cNvCxnSpPr>
            <a:cxnSpLocks/>
          </p:cNvCxnSpPr>
          <p:nvPr/>
        </p:nvCxnSpPr>
        <p:spPr>
          <a:xfrm>
            <a:off x="2978150" y="3429000"/>
            <a:ext cx="62357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8584C4-C39C-2B09-E57A-3ED751EAC33C}"/>
              </a:ext>
            </a:extLst>
          </p:cNvPr>
          <p:cNvCxnSpPr>
            <a:cxnSpLocks/>
          </p:cNvCxnSpPr>
          <p:nvPr/>
        </p:nvCxnSpPr>
        <p:spPr>
          <a:xfrm>
            <a:off x="2978150" y="5029200"/>
            <a:ext cx="62357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2D3C14-BDCE-CDB6-AE41-A92C7A647DD2}"/>
              </a:ext>
            </a:extLst>
          </p:cNvPr>
          <p:cNvGrpSpPr/>
          <p:nvPr/>
        </p:nvGrpSpPr>
        <p:grpSpPr>
          <a:xfrm rot="21446017">
            <a:off x="3597553" y="2078565"/>
            <a:ext cx="972949" cy="782759"/>
            <a:chOff x="5204382" y="3525789"/>
            <a:chExt cx="1783235" cy="143465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CD01AE0-DAC6-4CE3-A3EF-9E1C364004DD}"/>
                </a:ext>
              </a:extLst>
            </p:cNvPr>
            <p:cNvGrpSpPr/>
            <p:nvPr/>
          </p:nvGrpSpPr>
          <p:grpSpPr>
            <a:xfrm>
              <a:off x="5204382" y="3743925"/>
              <a:ext cx="1783235" cy="1216516"/>
              <a:chOff x="4746507" y="3547853"/>
              <a:chExt cx="2725995" cy="1859663"/>
            </a:xfrm>
          </p:grpSpPr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C311AFA4-2AB5-440A-D53B-1F8EFC9E6B38}"/>
                  </a:ext>
                </a:extLst>
              </p:cNvPr>
              <p:cNvSpPr/>
              <p:nvPr/>
            </p:nvSpPr>
            <p:spPr>
              <a:xfrm>
                <a:off x="6096001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18" name="Free-form: Shape 17">
                <a:extLst>
                  <a:ext uri="{FF2B5EF4-FFF2-40B4-BE49-F238E27FC236}">
                    <a16:creationId xmlns:a16="http://schemas.microsoft.com/office/drawing/2014/main" id="{B0607138-DF6E-3D31-783F-5541C62E8879}"/>
                  </a:ext>
                </a:extLst>
              </p:cNvPr>
              <p:cNvSpPr/>
              <p:nvPr/>
            </p:nvSpPr>
            <p:spPr>
              <a:xfrm flipH="1">
                <a:off x="4746507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C3667EFA-E11B-52DB-021C-68672CAB0554}"/>
                </a:ext>
              </a:extLst>
            </p:cNvPr>
            <p:cNvSpPr/>
            <p:nvPr/>
          </p:nvSpPr>
          <p:spPr>
            <a:xfrm>
              <a:off x="5770672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E9F736AD-29A6-254C-9DE5-4AE2D86E31D1}"/>
                </a:ext>
              </a:extLst>
            </p:cNvPr>
            <p:cNvSpPr/>
            <p:nvPr/>
          </p:nvSpPr>
          <p:spPr>
            <a:xfrm flipH="1">
              <a:off x="6096997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C51C1D-D17B-7A24-04B8-D3CEC6A49BE9}"/>
              </a:ext>
            </a:extLst>
          </p:cNvPr>
          <p:cNvGrpSpPr/>
          <p:nvPr/>
        </p:nvGrpSpPr>
        <p:grpSpPr>
          <a:xfrm rot="153983" flipH="1">
            <a:off x="7719710" y="2078565"/>
            <a:ext cx="972949" cy="782759"/>
            <a:chOff x="5204382" y="3525789"/>
            <a:chExt cx="1783235" cy="143465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90E199-46D2-812E-1B03-02758405D757}"/>
                </a:ext>
              </a:extLst>
            </p:cNvPr>
            <p:cNvGrpSpPr/>
            <p:nvPr/>
          </p:nvGrpSpPr>
          <p:grpSpPr>
            <a:xfrm>
              <a:off x="5204382" y="3743925"/>
              <a:ext cx="1783235" cy="1216516"/>
              <a:chOff x="4746507" y="3547853"/>
              <a:chExt cx="2725995" cy="1859663"/>
            </a:xfrm>
          </p:grpSpPr>
          <p:sp>
            <p:nvSpPr>
              <p:cNvPr id="23" name="Free-form: Shape 22">
                <a:extLst>
                  <a:ext uri="{FF2B5EF4-FFF2-40B4-BE49-F238E27FC236}">
                    <a16:creationId xmlns:a16="http://schemas.microsoft.com/office/drawing/2014/main" id="{C4A0C3FC-0BA8-95A0-4610-9F4F5DC3D5B9}"/>
                  </a:ext>
                </a:extLst>
              </p:cNvPr>
              <p:cNvSpPr/>
              <p:nvPr/>
            </p:nvSpPr>
            <p:spPr>
              <a:xfrm>
                <a:off x="6096001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4" name="Free-form: Shape 23">
                <a:extLst>
                  <a:ext uri="{FF2B5EF4-FFF2-40B4-BE49-F238E27FC236}">
                    <a16:creationId xmlns:a16="http://schemas.microsoft.com/office/drawing/2014/main" id="{D8D2FF0A-C2D6-588B-7D41-BD90DEA87DB4}"/>
                  </a:ext>
                </a:extLst>
              </p:cNvPr>
              <p:cNvSpPr/>
              <p:nvPr/>
            </p:nvSpPr>
            <p:spPr>
              <a:xfrm flipH="1">
                <a:off x="4746507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15FD4D40-8276-35AD-519B-CFDB5BF91E1D}"/>
                </a:ext>
              </a:extLst>
            </p:cNvPr>
            <p:cNvSpPr/>
            <p:nvPr/>
          </p:nvSpPr>
          <p:spPr>
            <a:xfrm>
              <a:off x="5770672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EDBDE250-BF15-AC9C-8754-F11A5E5E5109}"/>
                </a:ext>
              </a:extLst>
            </p:cNvPr>
            <p:cNvSpPr/>
            <p:nvPr/>
          </p:nvSpPr>
          <p:spPr>
            <a:xfrm flipH="1">
              <a:off x="6096997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34542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85C7-BB69-E799-34B0-6BFF4E7A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90CE2D-7701-1D26-502A-3400B7E9FE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4B47E-1E80-FA4F-66C9-DB96A02E7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C97D8C-5552-7B82-22F9-3610DC0DECC9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D61134-33F0-A6DE-C76B-88FD45CE0E26}"/>
              </a:ext>
            </a:extLst>
          </p:cNvPr>
          <p:cNvSpPr txBox="1"/>
          <p:nvPr/>
        </p:nvSpPr>
        <p:spPr>
          <a:xfrm>
            <a:off x="250785" y="2742913"/>
            <a:ext cx="116904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Well done you hit it.</a:t>
            </a:r>
          </a:p>
          <a:p>
            <a:pPr algn="ctr"/>
            <a:r>
              <a:rPr lang="en-GB" sz="3200" dirty="0">
                <a:solidFill>
                  <a:schemeClr val="bg1"/>
                </a:solidFill>
              </a:rPr>
              <a:t>The butterflies will now get faster!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A1D1D5-A85E-2B77-B0AA-8B7A51FB5F9E}"/>
              </a:ext>
            </a:extLst>
          </p:cNvPr>
          <p:cNvGrpSpPr/>
          <p:nvPr/>
        </p:nvGrpSpPr>
        <p:grpSpPr>
          <a:xfrm>
            <a:off x="5159828" y="3938160"/>
            <a:ext cx="1872344" cy="584776"/>
            <a:chOff x="4905829" y="4020456"/>
            <a:chExt cx="1872344" cy="584776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982AECF-D26C-152E-2A67-B353FFAB0CCF}"/>
                </a:ext>
              </a:extLst>
            </p:cNvPr>
            <p:cNvSpPr/>
            <p:nvPr/>
          </p:nvSpPr>
          <p:spPr>
            <a:xfrm>
              <a:off x="4905829" y="4020457"/>
              <a:ext cx="711200" cy="58477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A8A6B5D5-2DF5-E961-ACC1-346A06470A15}"/>
                </a:ext>
              </a:extLst>
            </p:cNvPr>
            <p:cNvSpPr/>
            <p:nvPr/>
          </p:nvSpPr>
          <p:spPr>
            <a:xfrm>
              <a:off x="6066973" y="4020456"/>
              <a:ext cx="711200" cy="58477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20319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2F6CD-B509-C66E-8BF0-F1BBCD52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46C312-7981-FB86-6182-AFB6F82898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A4C2EC-13F9-DB6E-77B6-8A9D5FA0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731BA3-98EB-F07B-576B-B6110D893FEA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87185-9EB3-CF7F-AD8D-128629CE0E65}"/>
              </a:ext>
            </a:extLst>
          </p:cNvPr>
          <p:cNvSpPr txBox="1"/>
          <p:nvPr/>
        </p:nvSpPr>
        <p:spPr>
          <a:xfrm>
            <a:off x="250785" y="3136613"/>
            <a:ext cx="1169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The butterflies will now get faster!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CE6D91-5271-7433-3523-FA7BF1BA0974}"/>
              </a:ext>
            </a:extLst>
          </p:cNvPr>
          <p:cNvGrpSpPr/>
          <p:nvPr/>
        </p:nvGrpSpPr>
        <p:grpSpPr>
          <a:xfrm>
            <a:off x="4579256" y="3938160"/>
            <a:ext cx="3033488" cy="584776"/>
            <a:chOff x="4223656" y="3938160"/>
            <a:chExt cx="3033488" cy="5847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C3A49F-3482-A6A1-964E-6E63CBB7A17D}"/>
                </a:ext>
              </a:extLst>
            </p:cNvPr>
            <p:cNvGrpSpPr/>
            <p:nvPr/>
          </p:nvGrpSpPr>
          <p:grpSpPr>
            <a:xfrm>
              <a:off x="4223656" y="3938160"/>
              <a:ext cx="1872344" cy="584776"/>
              <a:chOff x="4905829" y="4020456"/>
              <a:chExt cx="1872344" cy="584776"/>
            </a:xfrm>
          </p:grpSpPr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EBAE6EAC-2B7D-AC9C-F060-72B4BAD6A160}"/>
                  </a:ext>
                </a:extLst>
              </p:cNvPr>
              <p:cNvSpPr/>
              <p:nvPr/>
            </p:nvSpPr>
            <p:spPr>
              <a:xfrm>
                <a:off x="4905829" y="4020457"/>
                <a:ext cx="711200" cy="584775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7DEE3899-460E-D4A8-C7C7-63D7A8EDC436}"/>
                  </a:ext>
                </a:extLst>
              </p:cNvPr>
              <p:cNvSpPr/>
              <p:nvPr/>
            </p:nvSpPr>
            <p:spPr>
              <a:xfrm>
                <a:off x="6066973" y="4020456"/>
                <a:ext cx="711200" cy="584775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A0CD1E4-C025-8C5F-3D52-85440A6ABB27}"/>
                </a:ext>
              </a:extLst>
            </p:cNvPr>
            <p:cNvSpPr/>
            <p:nvPr/>
          </p:nvSpPr>
          <p:spPr>
            <a:xfrm>
              <a:off x="6545944" y="3938161"/>
              <a:ext cx="711200" cy="58477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3593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06448-738A-1E01-3471-E00F18FF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9ADD4-404B-F696-6830-65C6896D43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73BB2-99F9-C4C7-0D73-E6735955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153-D2F9-441A-8F15-C733E10AAE49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9BDF20-7A1B-6BA6-9557-8F349A6EA0A1}"/>
              </a:ext>
            </a:extLst>
          </p:cNvPr>
          <p:cNvSpPr/>
          <p:nvPr/>
        </p:nvSpPr>
        <p:spPr>
          <a:xfrm>
            <a:off x="3647624" y="5333789"/>
            <a:ext cx="4896753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91CC5-2D03-00CA-F69A-3E620B23D2AB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to start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407312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2586-1B25-9A40-32C7-D72DA1CD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B5591C-AE34-5B8F-6511-E9545B9FE9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CF90B-02B9-2822-FB50-EB020B2F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B85A89-93C7-51E1-DD05-6E18AB4C1EFC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A799FB-540D-5273-2031-F6CE733C4299}"/>
              </a:ext>
            </a:extLst>
          </p:cNvPr>
          <p:cNvGrpSpPr/>
          <p:nvPr/>
        </p:nvGrpSpPr>
        <p:grpSpPr>
          <a:xfrm>
            <a:off x="3989405" y="4878546"/>
            <a:ext cx="4213187" cy="1038828"/>
            <a:chOff x="4544992" y="2717157"/>
            <a:chExt cx="2581862" cy="142368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D251328-5144-CBCF-A0C3-D01A123E83F1}"/>
                </a:ext>
              </a:extLst>
            </p:cNvPr>
            <p:cNvSpPr/>
            <p:nvPr/>
          </p:nvSpPr>
          <p:spPr>
            <a:xfrm>
              <a:off x="4544994" y="2717157"/>
              <a:ext cx="2581860" cy="1423686"/>
            </a:xfrm>
            <a:prstGeom prst="roundRect">
              <a:avLst/>
            </a:prstGeom>
            <a:solidFill>
              <a:srgbClr val="6C788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A9A6B7-6ADC-E725-27C1-654D9D0211FF}"/>
                </a:ext>
              </a:extLst>
            </p:cNvPr>
            <p:cNvSpPr txBox="1"/>
            <p:nvPr/>
          </p:nvSpPr>
          <p:spPr>
            <a:xfrm>
              <a:off x="4544992" y="3028290"/>
              <a:ext cx="2581860" cy="801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Click to Continue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1881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F19B-4B52-7BEA-31C9-EF34FE50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DC0964-C08C-2893-1986-780A35B53F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2888E8-4E27-0C23-AB82-753E324CF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0BADAC-A0F8-3D6A-BE80-AE7E4C755E55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73798-614C-28FA-23E4-FA7207999570}"/>
              </a:ext>
            </a:extLst>
          </p:cNvPr>
          <p:cNvSpPr txBox="1"/>
          <p:nvPr/>
        </p:nvSpPr>
        <p:spPr>
          <a:xfrm>
            <a:off x="250785" y="2280086"/>
            <a:ext cx="1169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Thank you for playing!</a:t>
            </a:r>
          </a:p>
        </p:txBody>
      </p:sp>
    </p:spTree>
    <p:extLst>
      <p:ext uri="{BB962C8B-B14F-4D97-AF65-F5344CB8AC3E}">
        <p14:creationId xmlns:p14="http://schemas.microsoft.com/office/powerpoint/2010/main" val="398748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301</Words>
  <Application>Microsoft Office PowerPoint</Application>
  <PresentationFormat>Widescreen</PresentationFormat>
  <Paragraphs>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Hancock, George</dc:creator>
  <cp:lastModifiedBy>Hancock, George</cp:lastModifiedBy>
  <cp:revision>12</cp:revision>
  <dcterms:created xsi:type="dcterms:W3CDTF">2025-12-30T17:48:28Z</dcterms:created>
  <dcterms:modified xsi:type="dcterms:W3CDTF">2026-01-08T11:56:59Z</dcterms:modified>
</cp:coreProperties>
</file>